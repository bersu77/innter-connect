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53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FDBFE"/>
                </a:solidFill>
              </a:defRPr>
            </a:pPr>
            <a:r>
              <a:t>ADDIS ABABA UNIVERSITY</a:t>
            </a:r>
          </a:p>
          <a:p>
            <a:pPr>
              <a:spcBef>
                <a:spcPts val="600"/>
              </a:spcBef>
              <a:defRPr sz="1400" b="0">
                <a:solidFill>
                  <a:srgbClr val="93BBFB"/>
                </a:solidFill>
              </a:defRPr>
            </a:pPr>
            <a:r>
              <a:t>College of Natural and Computational Sciences</a:t>
            </a:r>
          </a:p>
          <a:p>
            <a:pPr>
              <a:spcBef>
                <a:spcPts val="600"/>
              </a:spcBef>
              <a:defRPr sz="1400" b="0">
                <a:solidFill>
                  <a:srgbClr val="93BBFB"/>
                </a:solidFill>
              </a:defRPr>
            </a:pPr>
            <a:r>
              <a:t>Department of Computer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InternConnect</a:t>
            </a:r>
          </a:p>
          <a:p>
            <a:pPr algn="ctr">
              <a:spcBef>
                <a:spcPts val="600"/>
              </a:spcBef>
              <a:defRPr sz="2800" b="0">
                <a:solidFill>
                  <a:srgbClr val="BFDBFE"/>
                </a:solidFill>
              </a:defRPr>
            </a:pPr>
            <a:r>
              <a:t>Internship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3BBFB"/>
                </a:solidFill>
              </a:defRPr>
            </a:pPr>
            <a:r>
              <a:t>Final Year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FDBFE"/>
                </a:solidFill>
              </a:defRPr>
            </a:pPr>
            <a:r>
              <a:t>Team Members</a:t>
            </a:r>
          </a:p>
          <a:p>
            <a:pPr>
              <a:spcBef>
                <a:spcPts val="600"/>
              </a:spcBef>
              <a:defRPr sz="1300" b="0">
                <a:solidFill>
                  <a:srgbClr val="FFFFFF"/>
                </a:solidFill>
              </a:defRPr>
            </a:pPr>
            <a:r>
              <a:t>Addis Alemayehu  (UGR/4143/15)</a:t>
            </a:r>
          </a:p>
          <a:p>
            <a:pPr>
              <a:spcBef>
                <a:spcPts val="600"/>
              </a:spcBef>
              <a:defRPr sz="1300" b="0">
                <a:solidFill>
                  <a:srgbClr val="FFFFFF"/>
                </a:solidFill>
              </a:defRPr>
            </a:pPr>
            <a:r>
              <a:t>Bersufikad Mihret  (UGR/4785/15)</a:t>
            </a:r>
          </a:p>
          <a:p>
            <a:pPr>
              <a:spcBef>
                <a:spcPts val="600"/>
              </a:spcBef>
              <a:defRPr sz="1300" b="0">
                <a:solidFill>
                  <a:srgbClr val="FFFFFF"/>
                </a:solidFill>
              </a:defRPr>
            </a:pPr>
            <a:r>
              <a:t>Dawit Workiye  (UGR/4403/15)</a:t>
            </a:r>
          </a:p>
          <a:p>
            <a:pPr>
              <a:spcBef>
                <a:spcPts val="600"/>
              </a:spcBef>
              <a:defRPr sz="1300" b="0">
                <a:solidFill>
                  <a:srgbClr val="FFFFFF"/>
                </a:solidFill>
              </a:defRPr>
            </a:pPr>
            <a:r>
              <a:t>Dejen Achenef  (UGR/7100/15)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50292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FDBFE"/>
                </a:solidFill>
              </a:defRPr>
            </a:pPr>
            <a:r>
              <a:t>Advisor: Mr. Samuel G.</a:t>
            </a:r>
          </a:p>
          <a:p>
            <a:pPr>
              <a:spcBef>
                <a:spcPts val="600"/>
              </a:spcBef>
              <a:defRPr sz="1300" b="0">
                <a:solidFill>
                  <a:srgbClr val="FFFFFF"/>
                </a:solidFill>
              </a:defRPr>
            </a:pPr>
            <a:r>
              <a:t>Date: January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Presentation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</a:defRPr>
            </a:pPr>
            <a:r>
              <a:t>1.  Introduction &amp; Problem Statement</a:t>
            </a:r>
          </a:p>
          <a:p>
            <a:pPr>
              <a:spcBef>
                <a:spcPts val="1200"/>
              </a:spcBef>
              <a:defRPr sz="1700" b="0">
                <a:solidFill>
                  <a:srgbClr val="1E293B"/>
                </a:solidFill>
              </a:defRPr>
            </a:pPr>
            <a:r>
              <a:t>2.  Objectives &amp; Scope</a:t>
            </a:r>
          </a:p>
          <a:p>
            <a:pPr>
              <a:spcBef>
                <a:spcPts val="1200"/>
              </a:spcBef>
              <a:defRPr sz="1700" b="0">
                <a:solidFill>
                  <a:srgbClr val="1E293B"/>
                </a:solidFill>
              </a:defRPr>
            </a:pPr>
            <a:r>
              <a:t>3.  System Development Methodology</a:t>
            </a:r>
          </a:p>
          <a:p>
            <a:pPr>
              <a:spcBef>
                <a:spcPts val="1200"/>
              </a:spcBef>
              <a:defRPr sz="1700" b="0">
                <a:solidFill>
                  <a:srgbClr val="1E293B"/>
                </a:solidFill>
              </a:defRPr>
            </a:pPr>
            <a:r>
              <a:t>4.  Requirement Analysis &amp; Use Cases</a:t>
            </a:r>
          </a:p>
          <a:p>
            <a:pPr>
              <a:spcBef>
                <a:spcPts val="1200"/>
              </a:spcBef>
              <a:defRPr sz="1700" b="0">
                <a:solidFill>
                  <a:srgbClr val="1E293B"/>
                </a:solidFill>
              </a:defRPr>
            </a:pPr>
            <a:r>
              <a:t>5.  System Architecture (3-Tier)</a:t>
            </a:r>
          </a:p>
          <a:p>
            <a:pPr>
              <a:spcBef>
                <a:spcPts val="1200"/>
              </a:spcBef>
              <a:defRPr sz="1700" b="0">
                <a:solidFill>
                  <a:srgbClr val="1E293B"/>
                </a:solidFill>
              </a:defRPr>
            </a:pPr>
            <a:r>
              <a:t>6.  Technology Stack (MERN)</a:t>
            </a:r>
          </a:p>
          <a:p>
            <a:pPr>
              <a:spcBef>
                <a:spcPts val="1200"/>
              </a:spcBef>
              <a:defRPr sz="1700" b="0">
                <a:solidFill>
                  <a:srgbClr val="1E293B"/>
                </a:solidFill>
              </a:defRPr>
            </a:pPr>
            <a:r>
              <a:t>7.  Database Design (MongoDB Collections)</a:t>
            </a:r>
          </a:p>
          <a:p>
            <a:pPr>
              <a:spcBef>
                <a:spcPts val="1200"/>
              </a:spcBef>
              <a:defRPr sz="1700" b="0">
                <a:solidFill>
                  <a:srgbClr val="1E293B"/>
                </a:solidFill>
              </a:defRPr>
            </a:pPr>
            <a:r>
              <a:t>8.  Authentication, RBAC &amp; Security</a:t>
            </a:r>
          </a:p>
          <a:p>
            <a:pPr>
              <a:spcBef>
                <a:spcPts val="1200"/>
              </a:spcBef>
              <a:defRPr sz="1700" b="0">
                <a:solidFill>
                  <a:srgbClr val="1E293B"/>
                </a:solidFill>
              </a:defRPr>
            </a:pPr>
            <a:r>
              <a:t>9.  Core Features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</a:defRPr>
            </a:pPr>
            <a:r>
              <a:t>10.  Internship &amp; Application Workflow</a:t>
            </a:r>
          </a:p>
          <a:p>
            <a:pPr>
              <a:spcBef>
                <a:spcPts val="1200"/>
              </a:spcBef>
              <a:defRPr sz="1700" b="0">
                <a:solidFill>
                  <a:srgbClr val="1E293B"/>
                </a:solidFill>
              </a:defRPr>
            </a:pPr>
            <a:r>
              <a:t>11.  Supervisor, Tasks &amp; Assessments</a:t>
            </a:r>
          </a:p>
          <a:p>
            <a:pPr>
              <a:spcBef>
                <a:spcPts val="1200"/>
              </a:spcBef>
              <a:defRPr sz="1700" b="0">
                <a:solidFill>
                  <a:srgbClr val="1E293B"/>
                </a:solidFill>
              </a:defRPr>
            </a:pPr>
            <a:r>
              <a:t>12.  Notifications, Dashboards &amp; Reports</a:t>
            </a:r>
          </a:p>
          <a:p>
            <a:pPr>
              <a:spcBef>
                <a:spcPts val="1200"/>
              </a:spcBef>
              <a:defRPr sz="1700" b="0">
                <a:solidFill>
                  <a:srgbClr val="1E293B"/>
                </a:solidFill>
              </a:defRPr>
            </a:pPr>
            <a:r>
              <a:t>13.  Frontend Architecture &amp; UI Design</a:t>
            </a:r>
          </a:p>
          <a:p>
            <a:pPr>
              <a:spcBef>
                <a:spcPts val="1200"/>
              </a:spcBef>
              <a:defRPr sz="1700" b="0">
                <a:solidFill>
                  <a:srgbClr val="1E293B"/>
                </a:solidFill>
              </a:defRPr>
            </a:pPr>
            <a:r>
              <a:t>14.  API &amp; Backend Structure</a:t>
            </a:r>
          </a:p>
          <a:p>
            <a:pPr>
              <a:spcBef>
                <a:spcPts val="1200"/>
              </a:spcBef>
              <a:defRPr sz="1700" b="0">
                <a:solidFill>
                  <a:srgbClr val="1E293B"/>
                </a:solidFill>
              </a:defRPr>
            </a:pPr>
            <a:r>
              <a:t>15.  Testing &amp; Quality Assurance</a:t>
            </a:r>
          </a:p>
          <a:p>
            <a:pPr>
              <a:spcBef>
                <a:spcPts val="1200"/>
              </a:spcBef>
              <a:defRPr sz="1700" b="0">
                <a:solidFill>
                  <a:srgbClr val="1E293B"/>
                </a:solidFill>
              </a:defRPr>
            </a:pPr>
            <a:r>
              <a:t>16.  Key Codebase Statistics</a:t>
            </a:r>
          </a:p>
          <a:p>
            <a:pPr>
              <a:spcBef>
                <a:spcPts val="1200"/>
              </a:spcBef>
              <a:defRPr sz="1700" b="0">
                <a:solidFill>
                  <a:srgbClr val="1E293B"/>
                </a:solidFill>
              </a:defRPr>
            </a:pPr>
            <a:r>
              <a:t>17.  Challenges &amp; Future Work</a:t>
            </a:r>
          </a:p>
          <a:p>
            <a:pPr>
              <a:spcBef>
                <a:spcPts val="1200"/>
              </a:spcBef>
              <a:defRPr sz="1700" b="0">
                <a:solidFill>
                  <a:srgbClr val="1E293B"/>
                </a:solidFill>
              </a:defRPr>
            </a:pPr>
            <a:r>
              <a:t>18.  Conclusion &amp;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Introduction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0AF"/>
                </a:solidFill>
              </a:defRPr>
            </a:pPr>
            <a:r>
              <a:t>The Problem</a:t>
            </a:r>
          </a:p>
          <a:p>
            <a:pPr>
              <a:spcBef>
                <a:spcPts val="600"/>
              </a:spcBef>
              <a:defRPr sz="800" b="0">
                <a:solidFill>
                  <a:srgbClr val="1E293B"/>
                </a:solidFill>
              </a:defRPr>
            </a:pPr>
          </a:p>
          <a:p>
            <a:pPr>
              <a:spcBef>
                <a:spcPts val="800"/>
              </a:spcBef>
              <a:defRPr sz="1400" b="0">
                <a:solidFill>
                  <a:srgbClr val="1E293B"/>
                </a:solidFill>
              </a:defRPr>
            </a:pPr>
            <a:r>
              <a:t>  Internship management in Ethiopian universities relies on manual, paper-based processes</a:t>
            </a:r>
          </a:p>
          <a:p>
            <a:pPr>
              <a:spcBef>
                <a:spcPts val="800"/>
              </a:spcBef>
              <a:defRPr sz="1400" b="0">
                <a:solidFill>
                  <a:srgbClr val="1E293B"/>
                </a:solidFill>
              </a:defRPr>
            </a:pPr>
            <a:r>
              <a:t>  Communication scattered across emails, phone calls, and in-person interactions</a:t>
            </a:r>
          </a:p>
          <a:p>
            <a:pPr>
              <a:spcBef>
                <a:spcPts val="800"/>
              </a:spcBef>
              <a:defRPr sz="1400" b="0">
                <a:solidFill>
                  <a:srgbClr val="1E293B"/>
                </a:solidFill>
              </a:defRPr>
            </a:pPr>
            <a:r>
              <a:t>  Students uncertain about application status; universities can't track progress</a:t>
            </a:r>
          </a:p>
          <a:p>
            <a:pPr>
              <a:spcBef>
                <a:spcPts val="800"/>
              </a:spcBef>
              <a:defRPr sz="1400" b="0">
                <a:solidFill>
                  <a:srgbClr val="1E293B"/>
                </a:solidFill>
              </a:defRPr>
            </a:pPr>
            <a:r>
              <a:t>  Inconsistent document formats lead to errors and extra administrative work</a:t>
            </a:r>
          </a:p>
          <a:p>
            <a:pPr>
              <a:spcBef>
                <a:spcPts val="800"/>
              </a:spcBef>
              <a:defRPr sz="1400" b="0">
                <a:solidFill>
                  <a:srgbClr val="1E293B"/>
                </a:solidFill>
              </a:defRPr>
            </a:pPr>
            <a:r>
              <a:t>  Manual review processes are slow — decisions take days or weeks</a:t>
            </a:r>
          </a:p>
          <a:p>
            <a:pPr>
              <a:spcBef>
                <a:spcPts val="800"/>
              </a:spcBef>
              <a:defRPr sz="1400" b="0">
                <a:solidFill>
                  <a:srgbClr val="1E293B"/>
                </a:solidFill>
              </a:defRPr>
            </a:pPr>
            <a:r>
              <a:t>  No centralized record-keeping for placements, assessments, or compliance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63040"/>
            <a:ext cx="5029200" cy="47548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0AF"/>
                </a:solidFill>
              </a:defRPr>
            </a:pPr>
            <a:r>
              <a:t>Our Solution: InternConnect</a:t>
            </a:r>
          </a:p>
          <a:p>
            <a:pPr>
              <a:spcBef>
                <a:spcPts val="600"/>
              </a:spcBef>
              <a:defRPr sz="800" b="0">
                <a:solidFill>
                  <a:srgbClr val="1E293B"/>
                </a:solidFill>
              </a:defRPr>
            </a:pPr>
          </a:p>
          <a:p>
            <a:pPr>
              <a:spcBef>
                <a:spcPts val="800"/>
              </a:spcBef>
              <a:defRPr sz="1400" b="0">
                <a:solidFill>
                  <a:srgbClr val="1E293B"/>
                </a:solidFill>
              </a:defRPr>
            </a:pPr>
            <a:r>
              <a:t>  A comprehensive web-based system that digitizes the entire internship lifecycle</a:t>
            </a:r>
          </a:p>
          <a:p>
            <a:pPr>
              <a:spcBef>
                <a:spcPts val="800"/>
              </a:spcBef>
              <a:defRPr sz="1400" b="0">
                <a:solidFill>
                  <a:srgbClr val="1E293B"/>
                </a:solidFill>
              </a:defRPr>
            </a:pPr>
            <a:r>
              <a:t>  Connects students, companies, universities, supervisors, and administrators</a:t>
            </a:r>
          </a:p>
          <a:p>
            <a:pPr>
              <a:spcBef>
                <a:spcPts val="800"/>
              </a:spcBef>
              <a:defRPr sz="1400" b="0">
                <a:solidFill>
                  <a:srgbClr val="1E293B"/>
                </a:solidFill>
              </a:defRPr>
            </a:pPr>
            <a:r>
              <a:t>  Centralizes posting, applications, approvals, task management, and reporting</a:t>
            </a:r>
          </a:p>
          <a:p>
            <a:pPr>
              <a:spcBef>
                <a:spcPts val="800"/>
              </a:spcBef>
              <a:defRPr sz="1400" b="0">
                <a:solidFill>
                  <a:srgbClr val="1E293B"/>
                </a:solidFill>
              </a:defRPr>
            </a:pPr>
            <a:r>
              <a:t>  Role-based access ensures each stakeholder sees only relevant data</a:t>
            </a:r>
          </a:p>
          <a:p>
            <a:pPr>
              <a:spcBef>
                <a:spcPts val="800"/>
              </a:spcBef>
              <a:defRPr sz="1400" b="0">
                <a:solidFill>
                  <a:srgbClr val="1E293B"/>
                </a:solidFill>
              </a:defRPr>
            </a:pPr>
            <a:r>
              <a:t>  Transparent, accountable, and auditable workflows throughout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Objectives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</a:defRPr>
            </a:pPr>
            <a:r>
              <a:t>General Objective</a:t>
            </a:r>
          </a:p>
          <a:p>
            <a:pPr>
              <a:spcBef>
                <a:spcPts val="800"/>
              </a:spcBef>
              <a:defRPr sz="1500" b="0">
                <a:solidFill>
                  <a:srgbClr val="1E293B"/>
                </a:solidFill>
              </a:defRPr>
            </a:pPr>
            <a:r>
              <a:t>Design and develop InternConnect — a web-based system that streamlines internship management for students, universities, and companies in Ethiopia.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</a:defRPr>
            </a:pPr>
            <a:r>
              <a:t>Specific Objectives</a:t>
            </a:r>
          </a:p>
          <a:p>
            <a:pPr>
              <a:spcBef>
                <a:spcPts val="600"/>
              </a:spcBef>
              <a:defRPr sz="1300" b="0">
                <a:solidFill>
                  <a:srgbClr val="1E293B"/>
                </a:solidFill>
              </a:defRPr>
            </a:pPr>
            <a:r>
              <a:t>  Gather requirements from all stakeholders via interviews, surveys, and document analysis</a:t>
            </a:r>
          </a:p>
          <a:p>
            <a:pPr>
              <a:spcBef>
                <a:spcPts val="600"/>
              </a:spcBef>
              <a:defRPr sz="1300" b="0">
                <a:solidFill>
                  <a:srgbClr val="1E293B"/>
                </a:solidFill>
              </a:defRPr>
            </a:pPr>
            <a:r>
              <a:t>  Organize requirements into functional &amp; non-functional specifications</a:t>
            </a:r>
          </a:p>
          <a:p>
            <a:pPr>
              <a:spcBef>
                <a:spcPts val="600"/>
              </a:spcBef>
              <a:defRPr sz="1300" b="0">
                <a:solidFill>
                  <a:srgbClr val="1E293B"/>
                </a:solidFill>
              </a:defRPr>
            </a:pPr>
            <a:r>
              <a:t>  Design a role-based web application with internship tracking, assessment, and reporting</a:t>
            </a:r>
          </a:p>
          <a:p>
            <a:pPr>
              <a:spcBef>
                <a:spcPts val="600"/>
              </a:spcBef>
              <a:defRPr sz="1300" b="0">
                <a:solidFill>
                  <a:srgbClr val="1E293B"/>
                </a:solidFill>
              </a:defRPr>
            </a:pPr>
            <a:r>
              <a:t>  Implement using the MERN stack for scalability, responsiveness, and security</a:t>
            </a:r>
          </a:p>
          <a:p>
            <a:pPr>
              <a:spcBef>
                <a:spcPts val="600"/>
              </a:spcBef>
              <a:defRPr sz="1300" b="0">
                <a:solidFill>
                  <a:srgbClr val="1E293B"/>
                </a:solidFill>
              </a:defRPr>
            </a:pPr>
            <a:r>
              <a:t>  Test and evaluate with predefined test cases to verify functionality and reliability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7432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</a:defRPr>
            </a:pPr>
            <a:r>
              <a:t>Scope</a:t>
            </a:r>
          </a:p>
          <a:p>
            <a:pPr>
              <a:spcBef>
                <a:spcPts val="600"/>
              </a:spcBef>
              <a:defRPr sz="1300" b="0">
                <a:solidFill>
                  <a:srgbClr val="1E293B"/>
                </a:solidFill>
              </a:defRPr>
            </a:pPr>
            <a:r>
              <a:t>Full internship cycle: application submission through completion, for Ethiopian universities and local partner companies.</a:t>
            </a:r>
          </a:p>
          <a:p>
            <a:pPr>
              <a:spcBef>
                <a:spcPts val="600"/>
              </a:spcBef>
              <a:defRPr sz="800" b="0">
                <a:solidFill>
                  <a:srgbClr val="1E293B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40AF"/>
                </a:solidFill>
              </a:defRPr>
            </a:pPr>
            <a:r>
              <a:t>Limitations</a:t>
            </a:r>
          </a:p>
          <a:p>
            <a:pPr>
              <a:spcBef>
                <a:spcPts val="600"/>
              </a:spcBef>
              <a:defRPr sz="1300" b="0">
                <a:solidFill>
                  <a:srgbClr val="1E293B"/>
                </a:solidFill>
              </a:defRPr>
            </a:pPr>
            <a:r>
              <a:t>  No international company support — Ethiopian context only</a:t>
            </a:r>
          </a:p>
          <a:p>
            <a:pPr>
              <a:spcBef>
                <a:spcPts val="600"/>
              </a:spcBef>
              <a:defRPr sz="1300" b="0">
                <a:solidFill>
                  <a:srgbClr val="1E293B"/>
                </a:solidFill>
              </a:defRPr>
            </a:pPr>
            <a:r>
              <a:t>  No financial transactions or payment gateway</a:t>
            </a:r>
          </a:p>
          <a:p>
            <a:pPr>
              <a:spcBef>
                <a:spcPts val="600"/>
              </a:spcBef>
              <a:defRPr sz="1300" b="0">
                <a:solidFill>
                  <a:srgbClr val="1E293B"/>
                </a:solidFill>
              </a:defRPr>
            </a:pPr>
            <a:r>
              <a:t>  No AI-based predictive placement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System Development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0AF"/>
                </a:solidFill>
              </a:defRPr>
            </a:pPr>
            <a:r>
              <a:t>Agile SDLC</a:t>
            </a:r>
          </a:p>
          <a:p>
            <a:pPr>
              <a:spcBef>
                <a:spcPts val="600"/>
              </a:spcBef>
              <a:defRPr sz="600" b="0">
                <a:solidFill>
                  <a:srgbClr val="1E293B"/>
                </a:solidFill>
              </a:defRPr>
            </a:pPr>
          </a:p>
          <a:p>
            <a:pPr>
              <a:spcBef>
                <a:spcPts val="800"/>
              </a:spcBef>
              <a:defRPr sz="1400" b="0">
                <a:solidFill>
                  <a:srgbClr val="1E293B"/>
                </a:solidFill>
              </a:defRPr>
            </a:pPr>
            <a:r>
              <a:t>  Iterative development in short sprints (2-4 weeks)</a:t>
            </a:r>
          </a:p>
          <a:p>
            <a:pPr>
              <a:spcBef>
                <a:spcPts val="800"/>
              </a:spcBef>
              <a:defRPr sz="1400" b="0">
                <a:solidFill>
                  <a:srgbClr val="1E293B"/>
                </a:solidFill>
              </a:defRPr>
            </a:pPr>
            <a:r>
              <a:t>  Close collaboration between team and stakeholders</a:t>
            </a:r>
          </a:p>
          <a:p>
            <a:pPr>
              <a:spcBef>
                <a:spcPts val="800"/>
              </a:spcBef>
              <a:defRPr sz="1400" b="0">
                <a:solidFill>
                  <a:srgbClr val="1E293B"/>
                </a:solidFill>
              </a:defRPr>
            </a:pPr>
            <a:r>
              <a:t>  Continuous feedback incorporation and priority adjustment</a:t>
            </a:r>
          </a:p>
          <a:p>
            <a:pPr>
              <a:spcBef>
                <a:spcPts val="800"/>
              </a:spcBef>
              <a:defRPr sz="1400" b="0">
                <a:solidFill>
                  <a:srgbClr val="1E293B"/>
                </a:solidFill>
              </a:defRPr>
            </a:pPr>
            <a:r>
              <a:t>  Each sprint includes planning, development, and testing</a:t>
            </a:r>
          </a:p>
          <a:p>
            <a:pPr>
              <a:spcBef>
                <a:spcPts val="800"/>
              </a:spcBef>
              <a:defRPr sz="1400" b="0">
                <a:solidFill>
                  <a:srgbClr val="1E293B"/>
                </a:solidFill>
              </a:defRPr>
            </a:pPr>
            <a:r>
              <a:t>  Flexibility to respond to changing requirements</a:t>
            </a:r>
          </a:p>
          <a:p>
            <a:pPr>
              <a:spcBef>
                <a:spcPts val="800"/>
              </a:spcBef>
              <a:defRPr sz="1400" b="0">
                <a:solidFill>
                  <a:srgbClr val="1E293B"/>
                </a:solidFill>
              </a:defRPr>
            </a:pPr>
            <a:r>
              <a:t>  Self-managed, cross-functional team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0AF"/>
                </a:solidFill>
              </a:defRPr>
            </a:pPr>
            <a:r>
              <a:t>Investigation Methods</a:t>
            </a:r>
          </a:p>
          <a:p>
            <a:pPr>
              <a:spcBef>
                <a:spcPts val="600"/>
              </a:spcBef>
              <a:defRPr sz="600" b="0">
                <a:solidFill>
                  <a:srgbClr val="1E293B"/>
                </a:solidFill>
              </a:defRPr>
            </a:pPr>
          </a:p>
          <a:p>
            <a:pPr>
              <a:spcBef>
                <a:spcPts val="1400"/>
              </a:spcBef>
              <a:defRPr sz="1500" b="1">
                <a:solidFill>
                  <a:srgbClr val="1E40AF"/>
                </a:solidFill>
              </a:defRPr>
            </a:pPr>
            <a:r>
              <a:t>Questionnaires</a:t>
            </a:r>
          </a:p>
          <a:p>
            <a:pPr>
              <a:spcBef>
                <a:spcPts val="200"/>
              </a:spcBef>
              <a:defRPr sz="1300" b="0">
                <a:solidFill>
                  <a:srgbClr val="1E293B"/>
                </a:solidFill>
              </a:defRPr>
            </a:pPr>
            <a:r>
              <a:t>Quantitative data from students, staff, and companies on requirements and expectations</a:t>
            </a:r>
          </a:p>
          <a:p>
            <a:pPr>
              <a:spcBef>
                <a:spcPts val="1400"/>
              </a:spcBef>
              <a:defRPr sz="1500" b="1">
                <a:solidFill>
                  <a:srgbClr val="1E40AF"/>
                </a:solidFill>
              </a:defRPr>
            </a:pPr>
            <a:r>
              <a:t>Interviews</a:t>
            </a:r>
          </a:p>
          <a:p>
            <a:pPr>
              <a:spcBef>
                <a:spcPts val="200"/>
              </a:spcBef>
              <a:defRPr sz="1300" b="0">
                <a:solidFill>
                  <a:srgbClr val="1E293B"/>
                </a:solidFill>
              </a:defRPr>
            </a:pPr>
            <a:r>
              <a:t>One-on-one qualitative insights from supervisors, coordinators, and managers</a:t>
            </a:r>
          </a:p>
          <a:p>
            <a:pPr>
              <a:spcBef>
                <a:spcPts val="1400"/>
              </a:spcBef>
              <a:defRPr sz="1500" b="1">
                <a:solidFill>
                  <a:srgbClr val="1E40AF"/>
                </a:solidFill>
              </a:defRPr>
            </a:pPr>
            <a:r>
              <a:t>Document Analysis</a:t>
            </a:r>
          </a:p>
          <a:p>
            <a:pPr>
              <a:spcBef>
                <a:spcPts val="200"/>
              </a:spcBef>
              <a:defRPr sz="1300" b="0">
                <a:solidFill>
                  <a:srgbClr val="1E293B"/>
                </a:solidFill>
              </a:defRPr>
            </a:pPr>
            <a:r>
              <a:t>Review of existing manual forms, records, and tracking processes to identify inefficiencies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Requirement Analysis &amp; Key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</a:defRPr>
            </a:pPr>
            <a:r>
              <a:t>14 Functional Requirements</a:t>
            </a:r>
          </a:p>
          <a:p>
            <a:pPr>
              <a:spcBef>
                <a:spcPts val="600"/>
              </a:spcBef>
              <a:defRPr sz="400" b="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FR1 — User Registration &amp; Authentication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FR2 — Role-Based Access Control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FR3 — Internship Posting &amp; Browsing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FR4 — Application Submission &amp; Tracking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FR5 — Internship Progress Monitoring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FR6 — Task Assignment &amp; Management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FR7 — Assessment &amp; Evaluation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FR8 — Offer &amp; Placement Management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FR9 — Application Review &amp; Selection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FR10 — Shortlisting Candidates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FR11 — University-Company Invitations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FR12 — Reporting &amp; Analytics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FR13 — Admin Account Management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FR14 — Audit &amp; System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</a:defRPr>
            </a:pPr>
            <a:r>
              <a:t>19 Use Cases (Selected)</a:t>
            </a:r>
          </a:p>
          <a:p>
            <a:pPr>
              <a:spcBef>
                <a:spcPts val="600"/>
              </a:spcBef>
              <a:defRPr sz="400" b="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UC001 — Login / Logout / Session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UC002 — Register &amp; Complete Profile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UC003 — Submit Application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UC004 — Track Application Status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UC005 — Search Organizations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UC007 — Review Applications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UC009 — Assign Supervisor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UC010 — Assign Tasks to Intern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UC011 — Request &amp; Submit Assessment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UC012 — Verify Entities (Admin)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UC013 — Generate Reports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UC014 — Conduct Audit Review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UC016 — Withdraw Application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UC017 — Accept/Reject Offer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UC018 — Complete Internship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UC019 — Receive Notifications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System Architecture — 3-Tier MERN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</a:defRPr>
            </a:pPr>
            <a:r>
              <a:t>Presentation Tier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React 18 + Vite (SPA)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Tailwind CSS + Glassmorphism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React Router v6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AuthContext + ProtectedRoute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Responsive, mobile-first UI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Dark/Light mode toggle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Lucide-react icons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Recharts for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74720" cy="4389120"/>
          </a:xfrm>
          <a:prstGeom prst="round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</a:defRPr>
            </a:pPr>
            <a:r>
              <a:t>Application Tier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Node.js + Express REST API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17 route modules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17 controller files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JWT access + refresh tokens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RBAC middleware (Table 3.1)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Audit logging middleware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Multer file upload handling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Centralized error handler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645920"/>
            <a:ext cx="3474720" cy="438912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</a:defRPr>
            </a:pPr>
            <a:r>
              <a:t>Data Tier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MongoDB + Mongoose ODM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15 collections (models)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Indexed for performance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Soft-delete support on Users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Append-only AuditLog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TTL-expiring Notifications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Seed script for demo data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Schema validation &amp; refs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</a:defRPr>
            </a:pPr>
            <a:r>
              <a:t>Frontend</a:t>
            </a:r>
          </a:p>
          <a:p>
            <a:pPr>
              <a:spcBef>
                <a:spcPts val="600"/>
              </a:spcBef>
              <a:defRPr sz="1300" b="0">
                <a:solidFill>
                  <a:srgbClr val="1E293B"/>
                </a:solidFill>
              </a:defRPr>
            </a:pPr>
            <a:r>
              <a:t>  React 18 — Component-based UI</a:t>
            </a:r>
          </a:p>
          <a:p>
            <a:pPr>
              <a:spcBef>
                <a:spcPts val="600"/>
              </a:spcBef>
              <a:defRPr sz="1300" b="0">
                <a:solidFill>
                  <a:srgbClr val="1E293B"/>
                </a:solidFill>
              </a:defRPr>
            </a:pPr>
            <a:r>
              <a:t>  Vite — Fast dev server &amp; bundling</a:t>
            </a:r>
          </a:p>
          <a:p>
            <a:pPr>
              <a:spcBef>
                <a:spcPts val="600"/>
              </a:spcBef>
              <a:defRPr sz="1300" b="0">
                <a:solidFill>
                  <a:srgbClr val="1E293B"/>
                </a:solidFill>
              </a:defRPr>
            </a:pPr>
            <a:r>
              <a:t>  Tailwind CSS — Utility-first styling</a:t>
            </a:r>
          </a:p>
          <a:p>
            <a:pPr>
              <a:spcBef>
                <a:spcPts val="600"/>
              </a:spcBef>
              <a:defRPr sz="1300" b="0">
                <a:solidFill>
                  <a:srgbClr val="1E293B"/>
                </a:solidFill>
              </a:defRPr>
            </a:pPr>
            <a:r>
              <a:t>  React Router v6 — Client-side routing</a:t>
            </a:r>
          </a:p>
          <a:p>
            <a:pPr>
              <a:spcBef>
                <a:spcPts val="600"/>
              </a:spcBef>
              <a:defRPr sz="1300" b="0">
                <a:solidFill>
                  <a:srgbClr val="1E293B"/>
                </a:solidFill>
              </a:defRPr>
            </a:pPr>
            <a:r>
              <a:t>  Axios — HTTP client with interceptors</a:t>
            </a:r>
          </a:p>
          <a:p>
            <a:pPr>
              <a:spcBef>
                <a:spcPts val="600"/>
              </a:spcBef>
              <a:defRPr sz="1300" b="0">
                <a:solidFill>
                  <a:srgbClr val="1E293B"/>
                </a:solidFill>
              </a:defRPr>
            </a:pPr>
            <a:r>
              <a:t>  Recharts — Interactive charts</a:t>
            </a:r>
          </a:p>
          <a:p>
            <a:pPr>
              <a:spcBef>
                <a:spcPts val="600"/>
              </a:spcBef>
              <a:defRPr sz="1300" b="0">
                <a:solidFill>
                  <a:srgbClr val="1E293B"/>
                </a:solidFill>
              </a:defRPr>
            </a:pPr>
            <a:r>
              <a:t>  Lucide React — Icon library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645920"/>
            <a:ext cx="3474720" cy="4572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</a:defRPr>
            </a:pPr>
            <a:r>
              <a:t>Backend</a:t>
            </a:r>
          </a:p>
          <a:p>
            <a:pPr>
              <a:spcBef>
                <a:spcPts val="600"/>
              </a:spcBef>
              <a:defRPr sz="1300" b="0">
                <a:solidFill>
                  <a:srgbClr val="1E293B"/>
                </a:solidFill>
              </a:defRPr>
            </a:pPr>
            <a:r>
              <a:t>  Node.js — JavaScript runtime</a:t>
            </a:r>
          </a:p>
          <a:p>
            <a:pPr>
              <a:spcBef>
                <a:spcPts val="600"/>
              </a:spcBef>
              <a:defRPr sz="1300" b="0">
                <a:solidFill>
                  <a:srgbClr val="1E293B"/>
                </a:solidFill>
              </a:defRPr>
            </a:pPr>
            <a:r>
              <a:t>  Express.js — REST API framework</a:t>
            </a:r>
          </a:p>
          <a:p>
            <a:pPr>
              <a:spcBef>
                <a:spcPts val="600"/>
              </a:spcBef>
              <a:defRPr sz="1300" b="0">
                <a:solidFill>
                  <a:srgbClr val="1E293B"/>
                </a:solidFill>
              </a:defRPr>
            </a:pPr>
            <a:r>
              <a:t>  Mongoose — MongoDB ODM</a:t>
            </a:r>
          </a:p>
          <a:p>
            <a:pPr>
              <a:spcBef>
                <a:spcPts val="600"/>
              </a:spcBef>
              <a:defRPr sz="1300" b="0">
                <a:solidFill>
                  <a:srgbClr val="1E293B"/>
                </a:solidFill>
              </a:defRPr>
            </a:pPr>
            <a:r>
              <a:t>  JWT (jsonwebtoken) — Auth tokens</a:t>
            </a:r>
          </a:p>
          <a:p>
            <a:pPr>
              <a:spcBef>
                <a:spcPts val="600"/>
              </a:spcBef>
              <a:defRPr sz="1300" b="0">
                <a:solidFill>
                  <a:srgbClr val="1E293B"/>
                </a:solidFill>
              </a:defRPr>
            </a:pPr>
            <a:r>
              <a:t>  bcrypt — Password hashing</a:t>
            </a:r>
          </a:p>
          <a:p>
            <a:pPr>
              <a:spcBef>
                <a:spcPts val="600"/>
              </a:spcBef>
              <a:defRPr sz="1300" b="0">
                <a:solidFill>
                  <a:srgbClr val="1E293B"/>
                </a:solidFill>
              </a:defRPr>
            </a:pPr>
            <a:r>
              <a:t>  Multer — File upload handling</a:t>
            </a:r>
          </a:p>
          <a:p>
            <a:pPr>
              <a:spcBef>
                <a:spcPts val="600"/>
              </a:spcBef>
              <a:defRPr sz="1300" b="0">
                <a:solidFill>
                  <a:srgbClr val="1E293B"/>
                </a:solidFill>
              </a:defRPr>
            </a:pPr>
            <a:r>
              <a:t>  PDFKit + ExcelJS — Report export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645920"/>
            <a:ext cx="3474720" cy="4572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173736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</a:defRPr>
            </a:pPr>
            <a:r>
              <a:t>Database &amp; Tools</a:t>
            </a:r>
          </a:p>
          <a:p>
            <a:pPr>
              <a:spcBef>
                <a:spcPts val="600"/>
              </a:spcBef>
              <a:defRPr sz="1300" b="0">
                <a:solidFill>
                  <a:srgbClr val="1E293B"/>
                </a:solidFill>
              </a:defRPr>
            </a:pPr>
            <a:r>
              <a:t>  MongoDB — NoSQL document store</a:t>
            </a:r>
          </a:p>
          <a:p>
            <a:pPr>
              <a:spcBef>
                <a:spcPts val="600"/>
              </a:spcBef>
              <a:defRPr sz="1300" b="0">
                <a:solidFill>
                  <a:srgbClr val="1E293B"/>
                </a:solidFill>
              </a:defRPr>
            </a:pPr>
            <a:r>
              <a:t>  Git / GitHub — Version control</a:t>
            </a:r>
          </a:p>
          <a:p>
            <a:pPr>
              <a:spcBef>
                <a:spcPts val="600"/>
              </a:spcBef>
              <a:defRPr sz="1300" b="0">
                <a:solidFill>
                  <a:srgbClr val="1E293B"/>
                </a:solidFill>
              </a:defRPr>
            </a:pPr>
            <a:r>
              <a:t>  Postman — API testing</a:t>
            </a:r>
          </a:p>
          <a:p>
            <a:pPr>
              <a:spcBef>
                <a:spcPts val="600"/>
              </a:spcBef>
              <a:defRPr sz="1300" b="0">
                <a:solidFill>
                  <a:srgbClr val="1E293B"/>
                </a:solidFill>
              </a:defRPr>
            </a:pPr>
            <a:r>
              <a:t>  Figma — UI/UX design</a:t>
            </a:r>
          </a:p>
          <a:p>
            <a:pPr>
              <a:spcBef>
                <a:spcPts val="600"/>
              </a:spcBef>
              <a:defRPr sz="1300" b="0">
                <a:solidFill>
                  <a:srgbClr val="1E293B"/>
                </a:solidFill>
              </a:defRPr>
            </a:pPr>
            <a:r>
              <a:t>  Vercel — Frontend deployment</a:t>
            </a:r>
          </a:p>
          <a:p>
            <a:pPr>
              <a:spcBef>
                <a:spcPts val="600"/>
              </a:spcBef>
              <a:defRPr sz="1300" b="0">
                <a:solidFill>
                  <a:srgbClr val="1E293B"/>
                </a:solidFill>
              </a:defRPr>
            </a:pPr>
            <a:r>
              <a:t>  Render — Backend deployment</a:t>
            </a:r>
          </a:p>
          <a:p>
            <a:pPr>
              <a:spcBef>
                <a:spcPts val="600"/>
              </a:spcBef>
              <a:defRPr sz="1300" b="0">
                <a:solidFill>
                  <a:srgbClr val="1E293B"/>
                </a:solidFill>
              </a:defRPr>
            </a:pPr>
            <a:r>
              <a:t>  Docker — Containerization (planned)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Database Design — 15 MongoDB Collections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r>
              <a:rPr sz="1300" b="1">
                <a:solidFill>
                  <a:srgbClr val="1E40AF"/>
                </a:solidFill>
              </a:rPr>
              <a:t>User</a:t>
            </a:r>
            <a:r>
              <a:rPr sz="1200">
                <a:solidFill>
                  <a:srgbClr val="1E293B"/>
                </a:solidFill>
              </a:rPr>
              <a:t>  —  Auth record: email, password (bcrypt), userType, roles[], permissions[], status, verification, lockout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rPr sz="1300" b="1">
                <a:solidFill>
                  <a:srgbClr val="1E40AF"/>
                </a:solidFill>
              </a:rPr>
              <a:t>Student</a:t>
            </a:r>
            <a:r>
              <a:rPr sz="1200">
                <a:solidFill>
                  <a:srgbClr val="1E293B"/>
                </a:solidFill>
              </a:rPr>
              <a:t>  —  userId ref, university, studentId, major, GPA, skills[], CV, certifications, portfolio, experience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rPr sz="1300" b="1">
                <a:solidFill>
                  <a:srgbClr val="1E40AF"/>
                </a:solidFill>
              </a:rPr>
              <a:t>University</a:t>
            </a:r>
            <a:r>
              <a:rPr sz="1200">
                <a:solidFill>
                  <a:srgbClr val="1E293B"/>
                </a:solidFill>
              </a:rPr>
              <a:t>  —  Name, domain, country, departments[], verified status, admins[], verificationRules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rPr sz="1300" b="1">
                <a:solidFill>
                  <a:srgbClr val="1E40AF"/>
                </a:solidFill>
              </a:rPr>
              <a:t>Company</a:t>
            </a:r>
            <a:r>
              <a:rPr sz="1200">
                <a:solidFill>
                  <a:srgbClr val="1E293B"/>
                </a:solidFill>
              </a:rPr>
              <a:t>  —  Name, industry, logo, verified, recruiters[], totalInternsHired, averageRating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rPr sz="1300" b="1">
                <a:solidFill>
                  <a:srgbClr val="1E40AF"/>
                </a:solidFill>
              </a:rPr>
              <a:t>Internship</a:t>
            </a:r>
            <a:r>
              <a:rPr sz="1200">
                <a:solidFill>
                  <a:srgbClr val="1E293B"/>
                </a:solidFill>
              </a:rPr>
              <a:t>  —  companyId, title, requirements, positions, deadline, status lifecycle, tags[], viewCount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rPr sz="1300" b="1">
                <a:solidFill>
                  <a:srgbClr val="1E40AF"/>
                </a:solidFill>
              </a:rPr>
              <a:t>Application</a:t>
            </a:r>
            <a:r>
              <a:rPr sz="1200">
                <a:solidFill>
                  <a:srgbClr val="1E293B"/>
                </a:solidFill>
              </a:rPr>
              <a:t>  —  studentId, internshipId, coverLetter, attachments[], statusHistory[] (audit trail)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rPr sz="1300" b="1">
                <a:solidFill>
                  <a:srgbClr val="1E40AF"/>
                </a:solidFill>
              </a:rPr>
              <a:t>Placement</a:t>
            </a:r>
            <a:r>
              <a:rPr sz="1200">
                <a:solidFill>
                  <a:srgbClr val="1E293B"/>
                </a:solidFill>
              </a:rPr>
              <a:t>  —  applicationId, studentId, companyId, supervisorHistory[], engagementStartedAt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rPr sz="1300" b="1">
                <a:solidFill>
                  <a:srgbClr val="1E40AF"/>
                </a:solidFill>
              </a:rPr>
              <a:t>Verification</a:t>
            </a:r>
            <a:r>
              <a:rPr sz="1200">
                <a:solidFill>
                  <a:srgbClr val="1E293B"/>
                </a:solidFill>
              </a:rPr>
              <a:t>  —  entityType, documents[], status, reviewedBy + VerificationAppeal sub-collection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rPr sz="1300" b="1">
                <a:solidFill>
                  <a:srgbClr val="1E40AF"/>
                </a:solidFill>
              </a:rPr>
              <a:t>AuditLog</a:t>
            </a:r>
            <a:r>
              <a:rPr sz="1200">
                <a:solidFill>
                  <a:srgbClr val="1E293B"/>
                </a:solidFill>
              </a:rPr>
              <a:t>  —  Append-only: userId, action, entityType, changes{before,after}, ipAddress, userAgent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rPr sz="1300" b="1">
                <a:solidFill>
                  <a:srgbClr val="1E40AF"/>
                </a:solidFill>
              </a:rPr>
              <a:t>Notification</a:t>
            </a:r>
            <a:r>
              <a:rPr sz="1200">
                <a:solidFill>
                  <a:srgbClr val="1E293B"/>
                </a:solidFill>
              </a:rPr>
              <a:t>  —  userId, type, channel (email/in_app/sms), read status, 90-day TTL auto-expire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rPr sz="1300" b="1">
                <a:solidFill>
                  <a:srgbClr val="1E40AF"/>
                </a:solidFill>
              </a:rPr>
              <a:t>Task</a:t>
            </a:r>
            <a:r>
              <a:rPr sz="1200">
                <a:solidFill>
                  <a:srgbClr val="1E293B"/>
                </a:solidFill>
              </a:rPr>
              <a:t>  —  Placement-scoped, taskNumber (per-student), deadline, grade, gradeAppeal, deliverables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rPr sz="1300" b="1">
                <a:solidFill>
                  <a:srgbClr val="1E40AF"/>
                </a:solidFill>
              </a:rPr>
              <a:t>Assessment</a:t>
            </a:r>
            <a:r>
              <a:rPr sz="1200">
                <a:solidFill>
                  <a:srgbClr val="1E293B"/>
                </a:solidFill>
              </a:rPr>
              <a:t>  —  placementId, supervisorId, score, remarks — immutable after submission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rPr sz="1300" b="1">
                <a:solidFill>
                  <a:srgbClr val="1E40AF"/>
                </a:solidFill>
              </a:rPr>
              <a:t>Report</a:t>
            </a:r>
            <a:r>
              <a:rPr sz="1200">
                <a:solidFill>
                  <a:srgbClr val="1E293B"/>
                </a:solidFill>
              </a:rPr>
              <a:t>  —  type (university/company/audit), filters, generated payload, PDF/Excel/CSV export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rPr sz="1300" b="1">
                <a:solidFill>
                  <a:srgbClr val="1E40AF"/>
                </a:solidFill>
              </a:rPr>
              <a:t>Invitation</a:t>
            </a:r>
            <a:r>
              <a:rPr sz="1200">
                <a:solidFill>
                  <a:srgbClr val="1E293B"/>
                </a:solidFill>
              </a:rPr>
              <a:t>  —  University invites company, optional message, status tracking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rPr sz="1300" b="1">
                <a:solidFill>
                  <a:srgbClr val="1E40AF"/>
                </a:solidFill>
              </a:rPr>
              <a:t>Message</a:t>
            </a:r>
            <a:r>
              <a:rPr sz="1200">
                <a:solidFill>
                  <a:srgbClr val="1E293B"/>
                </a:solidFill>
              </a:rPr>
              <a:t>  —  Supervisor-student chat threads, per-placement, with engagement boundary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Authentication, RBAC &amp; Security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</a:defRPr>
            </a:pPr>
            <a:r>
              <a:t>Authentication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JWT access + refresh token pair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bcrypt password hashing (salt rounds)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Account lockout after failed attempts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Session timeout enforcement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Login by email OR username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Academic email validation for students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  (.edu, .edu.xx, .ac.xx domains)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Credential change endpoint (PATCH)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645920"/>
            <a:ext cx="3474720" cy="4572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17830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</a:defRPr>
            </a:pPr>
            <a:r>
              <a:t>Role-Based Access Control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4 userTypes: student, university,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  company, admin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Sub-roles via roles[]: supervisor,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  auditor, manager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permissions[] per-user granularity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RBAC middleware on every route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Table 3.1 permission matrix enforced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Company: manager vs supervisor split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645920"/>
            <a:ext cx="3474720" cy="4572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7830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</a:defRPr>
            </a:pPr>
            <a:r>
              <a:t>Security &amp; Compliance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Immutable append-only AuditLog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Every action logged with IP, user-agent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Input validation on all endpoints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Rate limiting (50 req / 15 min auth)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Centralized error handler (no leaks)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Soft-delete (no permanent data loss)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CORS configuration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File upload restrictions (Multer)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Core Features — By User Role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743200" cy="48463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2468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40AF"/>
                </a:solidFill>
              </a:defRPr>
            </a:pPr>
            <a:r>
              <a:t>Student</a:t>
            </a:r>
          </a:p>
          <a:p>
            <a:pPr>
              <a:spcBef>
                <a:spcPts val="300"/>
              </a:spcBef>
              <a:defRPr sz="1100" b="0">
                <a:solidFill>
                  <a:srgbClr val="1E293B"/>
                </a:solidFill>
              </a:defRPr>
            </a:pPr>
            <a:r>
              <a:t>  Register with academic email</a:t>
            </a:r>
          </a:p>
          <a:p>
            <a:pPr>
              <a:spcBef>
                <a:spcPts val="300"/>
              </a:spcBef>
              <a:defRPr sz="1100" b="0">
                <a:solidFill>
                  <a:srgbClr val="1E293B"/>
                </a:solidFill>
              </a:defRPr>
            </a:pPr>
            <a:r>
              <a:t>  Complete profile (CV required)</a:t>
            </a:r>
          </a:p>
          <a:p>
            <a:pPr>
              <a:spcBef>
                <a:spcPts val="300"/>
              </a:spcBef>
              <a:defRPr sz="1100" b="0">
                <a:solidFill>
                  <a:srgbClr val="1E293B"/>
                </a:solidFill>
              </a:defRPr>
            </a:pPr>
            <a:r>
              <a:t>  Add portfolio, certifications, experience</a:t>
            </a:r>
          </a:p>
          <a:p>
            <a:pPr>
              <a:spcBef>
                <a:spcPts val="300"/>
              </a:spcBef>
              <a:defRPr sz="1100" b="0">
                <a:solidFill>
                  <a:srgbClr val="1E293B"/>
                </a:solidFill>
              </a:defRPr>
            </a:pPr>
            <a:r>
              <a:t>  Browse &amp; search internships</a:t>
            </a:r>
          </a:p>
          <a:p>
            <a:pPr>
              <a:spcBef>
                <a:spcPts val="300"/>
              </a:spcBef>
              <a:defRPr sz="1100" b="0">
                <a:solidFill>
                  <a:srgbClr val="1E293B"/>
                </a:solidFill>
              </a:defRPr>
            </a:pPr>
            <a:r>
              <a:t>  Apply with cover letter + attachments</a:t>
            </a:r>
          </a:p>
          <a:p>
            <a:pPr>
              <a:spcBef>
                <a:spcPts val="300"/>
              </a:spcBef>
              <a:defRPr sz="1100" b="0">
                <a:solidFill>
                  <a:srgbClr val="1E293B"/>
                </a:solidFill>
              </a:defRPr>
            </a:pPr>
            <a:r>
              <a:t>  Track application status in real-time</a:t>
            </a:r>
          </a:p>
          <a:p>
            <a:pPr>
              <a:spcBef>
                <a:spcPts val="300"/>
              </a:spcBef>
              <a:defRPr sz="1100" b="0">
                <a:solidFill>
                  <a:srgbClr val="1E293B"/>
                </a:solidFill>
              </a:defRPr>
            </a:pPr>
            <a:r>
              <a:t>  View assigned tasks &amp; submit deliverables</a:t>
            </a:r>
          </a:p>
          <a:p>
            <a:pPr>
              <a:spcBef>
                <a:spcPts val="300"/>
              </a:spcBef>
              <a:defRPr sz="1100" b="0">
                <a:solidFill>
                  <a:srgbClr val="1E293B"/>
                </a:solidFill>
              </a:defRPr>
            </a:pPr>
            <a:r>
              <a:t>  Request assessments, appeal grades</a:t>
            </a:r>
          </a:p>
          <a:p>
            <a:pPr>
              <a:spcBef>
                <a:spcPts val="300"/>
              </a:spcBef>
              <a:defRPr sz="1100" b="0">
                <a:solidFill>
                  <a:srgbClr val="1E293B"/>
                </a:solidFill>
              </a:defRPr>
            </a:pPr>
            <a:r>
              <a:t>  Chat with supervisor, submit final report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554480"/>
            <a:ext cx="2743200" cy="48463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645920"/>
            <a:ext cx="2468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40AF"/>
                </a:solidFill>
              </a:defRPr>
            </a:pPr>
            <a:r>
              <a:t>Company</a:t>
            </a:r>
          </a:p>
          <a:p>
            <a:pPr>
              <a:spcBef>
                <a:spcPts val="300"/>
              </a:spcBef>
              <a:defRPr sz="1100" b="0">
                <a:solidFill>
                  <a:srgbClr val="1E293B"/>
                </a:solidFill>
              </a:defRPr>
            </a:pPr>
            <a:r>
              <a:t>  Register &amp; complete company profile</a:t>
            </a:r>
          </a:p>
          <a:p>
            <a:pPr>
              <a:spcBef>
                <a:spcPts val="300"/>
              </a:spcBef>
              <a:defRPr sz="1100" b="0">
                <a:solidFill>
                  <a:srgbClr val="1E293B"/>
                </a:solidFill>
              </a:defRPr>
            </a:pPr>
            <a:r>
              <a:t>  Post internships (draft/publish/close)</a:t>
            </a:r>
          </a:p>
          <a:p>
            <a:pPr>
              <a:spcBef>
                <a:spcPts val="300"/>
              </a:spcBef>
              <a:defRPr sz="1100" b="0">
                <a:solidFill>
                  <a:srgbClr val="1E293B"/>
                </a:solidFill>
              </a:defRPr>
            </a:pPr>
            <a:r>
              <a:t>  Review applications, shortlist, accept/reject</a:t>
            </a:r>
          </a:p>
          <a:p>
            <a:pPr>
              <a:spcBef>
                <a:spcPts val="300"/>
              </a:spcBef>
              <a:defRPr sz="1100" b="0">
                <a:solidFill>
                  <a:srgbClr val="1E293B"/>
                </a:solidFill>
              </a:defRPr>
            </a:pPr>
            <a:r>
              <a:t>  Create supervisor accounts</a:t>
            </a:r>
          </a:p>
          <a:p>
            <a:pPr>
              <a:spcBef>
                <a:spcPts val="300"/>
              </a:spcBef>
              <a:defRPr sz="1100" b="0">
                <a:solidFill>
                  <a:srgbClr val="1E293B"/>
                </a:solidFill>
              </a:defRPr>
            </a:pPr>
            <a:r>
              <a:t>  Assign supervisors to placements</a:t>
            </a:r>
          </a:p>
          <a:p>
            <a:pPr>
              <a:spcBef>
                <a:spcPts val="300"/>
              </a:spcBef>
              <a:defRPr sz="1100" b="0">
                <a:solidFill>
                  <a:srgbClr val="1E293B"/>
                </a:solidFill>
              </a:defRPr>
            </a:pPr>
            <a:r>
              <a:t>  Reassign supervisors (continue/fresh mode)</a:t>
            </a:r>
          </a:p>
          <a:p>
            <a:pPr>
              <a:spcBef>
                <a:spcPts val="300"/>
              </a:spcBef>
              <a:defRPr sz="1100" b="0">
                <a:solidFill>
                  <a:srgbClr val="1E293B"/>
                </a:solidFill>
              </a:defRPr>
            </a:pPr>
            <a:r>
              <a:t>  Manager dashboard with overview stats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2743200" cy="48463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45920"/>
            <a:ext cx="2468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40AF"/>
                </a:solidFill>
              </a:defRPr>
            </a:pPr>
            <a:r>
              <a:t>University</a:t>
            </a:r>
          </a:p>
          <a:p>
            <a:pPr>
              <a:spcBef>
                <a:spcPts val="300"/>
              </a:spcBef>
              <a:defRPr sz="1100" b="0">
                <a:solidFill>
                  <a:srgbClr val="1E293B"/>
                </a:solidFill>
              </a:defRPr>
            </a:pPr>
            <a:r>
              <a:t>  Register &amp; set verification rules</a:t>
            </a:r>
          </a:p>
          <a:p>
            <a:pPr>
              <a:spcBef>
                <a:spcPts val="300"/>
              </a:spcBef>
              <a:defRPr sz="1100" b="0">
                <a:solidFill>
                  <a:srgbClr val="1E293B"/>
                </a:solidFill>
              </a:defRPr>
            </a:pPr>
            <a:r>
              <a:t>  Verify students (enrollment, documents)</a:t>
            </a:r>
          </a:p>
          <a:p>
            <a:pPr>
              <a:spcBef>
                <a:spcPts val="300"/>
              </a:spcBef>
              <a:defRPr sz="1100" b="0">
                <a:solidFill>
                  <a:srgbClr val="1E293B"/>
                </a:solidFill>
              </a:defRPr>
            </a:pPr>
            <a:r>
              <a:t>  Verify student applications at apply-time</a:t>
            </a:r>
          </a:p>
          <a:p>
            <a:pPr>
              <a:spcBef>
                <a:spcPts val="300"/>
              </a:spcBef>
              <a:defRPr sz="1100" b="0">
                <a:solidFill>
                  <a:srgbClr val="1E293B"/>
                </a:solidFill>
              </a:defRPr>
            </a:pPr>
            <a:r>
              <a:t>  Search &amp; invite partner companies</a:t>
            </a:r>
          </a:p>
          <a:p>
            <a:pPr>
              <a:spcBef>
                <a:spcPts val="300"/>
              </a:spcBef>
              <a:defRPr sz="1100" b="0">
                <a:solidFill>
                  <a:srgbClr val="1E293B"/>
                </a:solidFill>
              </a:defRPr>
            </a:pPr>
            <a:r>
              <a:t>  Monitor student placements &amp; progress</a:t>
            </a:r>
          </a:p>
          <a:p>
            <a:pPr>
              <a:spcBef>
                <a:spcPts val="300"/>
              </a:spcBef>
              <a:defRPr sz="1100" b="0">
                <a:solidFill>
                  <a:srgbClr val="1E293B"/>
                </a:solidFill>
              </a:defRPr>
            </a:pPr>
            <a:r>
              <a:t>  Generate placement &amp; completion reports</a:t>
            </a:r>
          </a:p>
          <a:p>
            <a:pPr>
              <a:spcBef>
                <a:spcPts val="300"/>
              </a:spcBef>
              <a:defRPr sz="1100" b="0">
                <a:solidFill>
                  <a:srgbClr val="1E293B"/>
                </a:solidFill>
              </a:defRPr>
            </a:pPr>
            <a:r>
              <a:t>  Validate final internship reports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554480"/>
            <a:ext cx="2743200" cy="48463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1645920"/>
            <a:ext cx="2468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40AF"/>
                </a:solidFill>
              </a:defRPr>
            </a:pPr>
            <a:r>
              <a:t>Admin</a:t>
            </a:r>
          </a:p>
          <a:p>
            <a:pPr>
              <a:spcBef>
                <a:spcPts val="300"/>
              </a:spcBef>
              <a:defRPr sz="1100" b="0">
                <a:solidFill>
                  <a:srgbClr val="1E293B"/>
                </a:solidFill>
              </a:defRPr>
            </a:pPr>
            <a:r>
              <a:t>  Verify companies &amp; universities</a:t>
            </a:r>
          </a:p>
          <a:p>
            <a:pPr>
              <a:spcBef>
                <a:spcPts val="300"/>
              </a:spcBef>
              <a:defRPr sz="1100" b="0">
                <a:solidFill>
                  <a:srgbClr val="1E293B"/>
                </a:solidFill>
              </a:defRPr>
            </a:pPr>
            <a:r>
              <a:t>  Manage all user accounts</a:t>
            </a:r>
          </a:p>
          <a:p>
            <a:pPr>
              <a:spcBef>
                <a:spcPts val="300"/>
              </a:spcBef>
              <a:defRPr sz="1100" b="0">
                <a:solidFill>
                  <a:srgbClr val="1E293B"/>
                </a:solidFill>
              </a:defRPr>
            </a:pPr>
            <a:r>
              <a:t>  Activate / deactivate / suspend users</a:t>
            </a:r>
          </a:p>
          <a:p>
            <a:pPr>
              <a:spcBef>
                <a:spcPts val="300"/>
              </a:spcBef>
              <a:defRPr sz="1100" b="0">
                <a:solidFill>
                  <a:srgbClr val="1E293B"/>
                </a:solidFill>
              </a:defRPr>
            </a:pPr>
            <a:r>
              <a:t>  View system-wide audit logs</a:t>
            </a:r>
          </a:p>
          <a:p>
            <a:pPr>
              <a:spcBef>
                <a:spcPts val="300"/>
              </a:spcBef>
              <a:defRPr sz="1100" b="0">
                <a:solidFill>
                  <a:srgbClr val="1E293B"/>
                </a:solidFill>
              </a:defRPr>
            </a:pPr>
            <a:r>
              <a:t>  Generate admin analytics reports</a:t>
            </a:r>
          </a:p>
          <a:p>
            <a:pPr>
              <a:spcBef>
                <a:spcPts val="300"/>
              </a:spcBef>
              <a:defRPr sz="1100" b="0">
                <a:solidFill>
                  <a:srgbClr val="1E293B"/>
                </a:solidFill>
              </a:defRPr>
            </a:pPr>
            <a:r>
              <a:t>  System monitoring &amp; 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Internship &amp; Application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1783080" cy="22860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600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40AF"/>
                </a:solidFill>
              </a:defRPr>
            </a:pPr>
            <a:r>
              <a:t>1. Post</a:t>
            </a:r>
          </a:p>
          <a:p>
            <a:pPr algn="ctr">
              <a:spcBef>
                <a:spcPts val="800"/>
              </a:spcBef>
              <a:defRPr sz="1100" b="0">
                <a:solidFill>
                  <a:srgbClr val="1E293B"/>
                </a:solidFill>
              </a:defRPr>
            </a:pPr>
            <a:r>
              <a:t>Company creates internship</a:t>
            </a:r>
            <a:br/>
            <a:r>
              <a:t>(draft &gt; pending &gt; active)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645920"/>
            <a:ext cx="1783080" cy="22860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1737360"/>
            <a:ext cx="1600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40AF"/>
                </a:solidFill>
              </a:defRPr>
            </a:pPr>
            <a:r>
              <a:t>2. Browse</a:t>
            </a:r>
          </a:p>
          <a:p>
            <a:pPr algn="ctr">
              <a:spcBef>
                <a:spcPts val="800"/>
              </a:spcBef>
              <a:defRPr sz="1100" b="0">
                <a:solidFill>
                  <a:srgbClr val="1E293B"/>
                </a:solidFill>
              </a:defRPr>
            </a:pPr>
            <a:r>
              <a:t>Students search &amp; filter</a:t>
            </a:r>
            <a:br/>
            <a:r>
              <a:t>internships (location, field)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1783080" cy="22860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737360"/>
            <a:ext cx="1600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40AF"/>
                </a:solidFill>
              </a:defRPr>
            </a:pPr>
            <a:r>
              <a:t>3. Apply</a:t>
            </a:r>
          </a:p>
          <a:p>
            <a:pPr algn="ctr">
              <a:spcBef>
                <a:spcPts val="800"/>
              </a:spcBef>
              <a:defRPr sz="1100" b="0">
                <a:solidFill>
                  <a:srgbClr val="1E293B"/>
                </a:solidFill>
              </a:defRPr>
            </a:pPr>
            <a:r>
              <a:t>Student submits application</a:t>
            </a:r>
            <a:br/>
            <a:r>
              <a:t>with CV, portfolio, cover letter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1783080" cy="22860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1600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40AF"/>
                </a:solidFill>
              </a:defRPr>
            </a:pPr>
            <a:r>
              <a:t>4. Univ. Verify</a:t>
            </a:r>
          </a:p>
          <a:p>
            <a:pPr algn="ctr">
              <a:spcBef>
                <a:spcPts val="800"/>
              </a:spcBef>
              <a:defRPr sz="1100" b="0">
                <a:solidFill>
                  <a:srgbClr val="1E293B"/>
                </a:solidFill>
              </a:defRPr>
            </a:pPr>
            <a:r>
              <a:t>University verifies student</a:t>
            </a:r>
            <a:br/>
            <a:r>
              <a:t>enrollment &amp; documents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1783080" cy="22860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37360"/>
            <a:ext cx="1600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40AF"/>
                </a:solidFill>
              </a:defRPr>
            </a:pPr>
            <a:r>
              <a:t>5. Review</a:t>
            </a:r>
          </a:p>
          <a:p>
            <a:pPr algn="ctr">
              <a:spcBef>
                <a:spcPts val="800"/>
              </a:spcBef>
              <a:defRPr sz="1100" b="0">
                <a:solidFill>
                  <a:srgbClr val="1E293B"/>
                </a:solidFill>
              </a:defRPr>
            </a:pPr>
            <a:r>
              <a:t>Company reviews, shortlists,</a:t>
            </a:r>
            <a:br/>
            <a:r>
              <a:t>accepts or rejects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1645920"/>
            <a:ext cx="1783080" cy="22860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0" y="1737360"/>
            <a:ext cx="1600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40AF"/>
                </a:solidFill>
              </a:defRPr>
            </a:pPr>
            <a:r>
              <a:t>6. Offer</a:t>
            </a:r>
          </a:p>
          <a:p>
            <a:pPr algn="ctr">
              <a:spcBef>
                <a:spcPts val="800"/>
              </a:spcBef>
              <a:defRPr sz="1100" b="0">
                <a:solidFill>
                  <a:srgbClr val="1E293B"/>
                </a:solidFill>
              </a:defRPr>
            </a:pPr>
            <a:r>
              <a:t>Student accepts/rejects offer;</a:t>
            </a:r>
            <a:br/>
            <a:r>
              <a:t>Placement record created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</a:defRPr>
            </a:pPr>
            <a:r>
              <a:t>Application Status 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293B"/>
                </a:solidFill>
              </a:defRPr>
            </a:pPr>
            <a:r>
              <a:t>submitted  &gt;  under_review  &gt;  shortlisted  &gt;  accepted  &gt;  offered  &gt;  placed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94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</a:defRPr>
            </a:pPr>
            <a:r>
              <a:t>Key Business Rules: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  One application per internship per student  |  University verification gate before company review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  Student can withdraw before review  |  Immutable statusHistory[] for full audit trail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  Profile must be complete (CV required) before applying  |  Attachments from profile suggested at apply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Supervisor, Tasks &amp; Assessments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</a:defRPr>
            </a:pPr>
            <a:r>
              <a:t>Supervisor Workspace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Manager creates supervisor accounts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  (username + temp password)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Dedicated supervisor dashboard &amp; nav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Supervisor assigned to placements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Reassignment: continue or fresh mode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  (inherits or starts new chat thread)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supervisorHistory[] as audit trail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Placement-scoped task visibility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645920"/>
            <a:ext cx="3474720" cy="4572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17830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</a:defRPr>
            </a:pPr>
            <a:r>
              <a:t>Task Management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Supervisor assigns tasks with deadlines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Required deliverables per task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  (document / link / note types)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Student submits deliverables via upload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Per-student sequential numbering (TSK-0042)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Bulk assign to all active interns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Auto-zero on missed deadline (lazy eval)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Grade appeal workflow (student &gt; supervisor)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Appeal with optional document attachments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645920"/>
            <a:ext cx="3474720" cy="4572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7830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</a:defRPr>
            </a:pPr>
            <a:r>
              <a:t>Assessments &amp; Completion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Student requests assessment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Supervisor fills score + remarks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Immutable after submission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Student submits final internship report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Supervisor confirms completion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University validates final report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Internship marked completed &amp; archived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Full end-to-end internship lifecycle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Notifications, Dashboards &amp; Reports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</a:defRPr>
            </a:pPr>
            <a:r>
              <a:t>Notification System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In-app notification center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Fires on every status change: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  - Application decisions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  - Verification results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  - Task assignments &amp; grading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  - Supervisor reassignments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Read/unread tracking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90-day TTL auto-expiration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Bell icon with unread count badge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645920"/>
            <a:ext cx="3474720" cy="4572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17830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</a:defRPr>
            </a:pPr>
            <a:r>
              <a:t>Role Dashboards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Each role has a personalized dashboard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Live stats cards with key metrics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Student: applications, tasks, placements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Company: internships, applications, interns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University: students, placements, verifications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Admin: users, verifications, system health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Supervisor: assigned interns, tasks, messages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FilterBar on every list/search page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645920"/>
            <a:ext cx="3474720" cy="4572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7830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</a:defRPr>
            </a:pPr>
            <a:r>
              <a:t>Reports &amp; Analytics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University placement/completion reports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Company &amp; admin analytics views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Filterable report generation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Export to PDF, Excel, CSV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  (pdfkit + exceljs libraries)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Interactive charts (recharts):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  - Bar charts for summary metrics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  - Pie charts for status breakdowns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Lazy-loaded chart component (bundle split)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Frontend Architecture &amp; UI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</a:defRPr>
            </a:pPr>
            <a:r>
              <a:t>Frontend Structure (client/src/)</a:t>
            </a:r>
          </a:p>
          <a:p>
            <a:pPr>
              <a:spcBef>
                <a:spcPts val="600"/>
              </a:spcBef>
              <a:defRPr sz="600" b="0">
                <a:solidFill>
                  <a:srgbClr val="1E293B"/>
                </a:solidFill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api/          — 14 API modules (axios-based)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components/   — Shared UI: FilterBar, Navbar,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                NotificationBell, ReportCharts,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                ThemeToggle, PageHeader, Logo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components/ui/ — Design system primitives: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                Badge, Button, Card, Input,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                Select, Spinner, Textarea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context/      — AuthContext (JWT management)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layouts/      — DashboardLayout (sidebar + header)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pages/        — 7 public + 22 dashboard pages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routes/       — ProtectedRoute, route guards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lib/          — theme.js (dark/light mode)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</a:defRPr>
            </a:pPr>
            <a:r>
              <a:t>UI Design Language</a:t>
            </a:r>
          </a:p>
          <a:p>
            <a:pPr>
              <a:spcBef>
                <a:spcPts val="600"/>
              </a:spcBef>
              <a:defRPr sz="600" b="0">
                <a:solidFill>
                  <a:srgbClr val="1E293B"/>
                </a:solidFill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  Modern, clean, minimalist aesthetic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  Inspired by Apple's Human Interface Guidelines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  Mobile-first, fully responsive design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  Glassmorphism: backdrop-blur, translucent panels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  Neutral palette + single blue accent color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  Soft rounded corners (8-16px), subtle shadows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  Smooth hover &amp; transition animations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  respects prefers-reduced-motion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  Dark mode: OS-aware, localStorage persisted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    global palette remap via .dark selectors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  Tailwind theme tokens for consistency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  All design tokens in tailwind.config.js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API &amp; Backend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</a:defRPr>
            </a:pPr>
            <a:r>
              <a:t>Backend Structure (server/)</a:t>
            </a:r>
          </a:p>
          <a:p>
            <a:pPr>
              <a:spcBef>
                <a:spcPts val="600"/>
              </a:spcBef>
              <a:defRPr sz="600" b="0">
                <a:solidFill>
                  <a:srgbClr val="1E293B"/>
                </a:solidFill>
              </a:defRPr>
            </a:pP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index.js        — Express app entry point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config/         — db.js, permissions.js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models/         — 15 Mongoose models + barrel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routes/         — 16 route files (RESTful)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controllers/    — 17 controller files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services/       — audit.js, notification.js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middleware/     — auth, rbac, upload, errorHandler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utils/          — jwt.js (token helpers)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seed/           — seed.js (demo data)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scripts/        — buildIndexes, syncSchema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tests/          — integration.mjs (121 tests)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</a:defRPr>
            </a:pPr>
            <a:r>
              <a:t>REST API Routes</a:t>
            </a:r>
          </a:p>
          <a:p>
            <a:pPr>
              <a:spcBef>
                <a:spcPts val="600"/>
              </a:spcBef>
              <a:defRPr sz="600" b="0">
                <a:solidFill>
                  <a:srgbClr val="1E293B"/>
                </a:solidFill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/api/auth      — Register, login, logout, credentials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/api/students   — Profile, CV upload, portfolio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/api/companies  — Company profile, supervisors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/api/universities — University profile, verify students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/api/internships — CRUD, search, filter, close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/api/applications — Apply, track, review, verify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/api/placements  — Manage, assign supervisor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/api/tasks       — Assign, submit, grade, appeal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/api/assessments — Request, submit, view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/api/invitations — Send, accept, reject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/api/verification — Entity verification + appeals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/api/notifications — List, mark read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/api/reports     — Generate, export PDF/Excel/CSV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/api/audit       — View logs, compliance review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/api/admin       — User management, system ops</a:t>
            </a:r>
          </a:p>
          <a:p>
            <a:pPr>
              <a:spcBef>
                <a:spcPts val="300"/>
              </a:spcBef>
              <a:defRPr sz="1200" b="0">
                <a:solidFill>
                  <a:srgbClr val="1E293B"/>
                </a:solidFill>
              </a:defRPr>
            </a:pPr>
            <a:r>
              <a:t>/api/dashboard   — Role-specific stats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Testing &amp; Key Codebase Statistics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25603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</a:defRPr>
            </a:pPr>
            <a:r>
              <a:t>Testing &amp; Quality Assurance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Integration test suite: 121/121 tests passing (server/tests/integration.mjs)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Tests cover auth, profiles, internships, applications, placements, tasks, assessments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Seed script provides known-state reproducible dataset for testing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npm run build — frontend regression gate on every phase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Per-phase regression: all earlier happy paths re-tested before advancing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480560"/>
            <a:ext cx="5303520" cy="20116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6177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</a:defRPr>
            </a:pPr>
            <a:r>
              <a:t>Codebase at a Glance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15 MongoDB models  |  16 route files  |  17 controllers  |  14 API client modules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29 React pages (7 public + 22 dashboard)  |  17+ shared components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7 UI primitives (design system)  |  Full dark/light mode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PDF, Excel, CSV report export  |  Interactive recharts analytics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029200" cy="484632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7830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</a:defRPr>
            </a:pPr>
            <a:r>
              <a:t>Development Highlights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14 build phases (0-13) completed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16 post-phase feature rounds merged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Agile sprints with atomic commits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Conventional commit messages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Module-by-module vertical slices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Backend-first per module (API &gt; UI)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Dependency-ordered build strategy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Additive-first regression control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Full traceability: FR &gt; UC &gt; Phase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4 user roles + 2 sub-roles (supervisor, auditor)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19 use cases implemented</a:t>
            </a:r>
          </a:p>
          <a:p>
            <a:pPr>
              <a:spcBef>
                <a:spcPts val="600"/>
              </a:spcBef>
              <a:defRPr sz="1400" b="0">
                <a:solidFill>
                  <a:srgbClr val="1E293B"/>
                </a:solidFill>
              </a:defRPr>
            </a:pPr>
            <a:r>
              <a:t>14 functional requirements fulfilled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53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418320" cy="2926080"/>
          </a:xfrm>
          <a:prstGeom prst="roundRect">
            <a:avLst/>
          </a:prstGeom>
          <a:solidFill>
            <a:srgbClr val="1A3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194560"/>
            <a:ext cx="8503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  InternConnect successfully digitizes the complete internship management lifecycle</a:t>
            </a:r>
          </a:p>
          <a:p>
            <a:pPr>
              <a:spcBef>
                <a:spcPts val="1000"/>
              </a:spcBef>
              <a:defRPr sz="1600" b="0">
                <a:solidFill>
                  <a:srgbClr val="FFFFFF"/>
                </a:solidFill>
              </a:defRPr>
            </a:pPr>
            <a:r>
              <a:t>  All 14 functional requirements and 19 use cases have been implemented and tested</a:t>
            </a:r>
          </a:p>
          <a:p>
            <a:pPr>
              <a:spcBef>
                <a:spcPts val="1000"/>
              </a:spcBef>
              <a:defRPr sz="1600" b="0">
                <a:solidFill>
                  <a:srgbClr val="FFFFFF"/>
                </a:solidFill>
              </a:defRPr>
            </a:pPr>
            <a:r>
              <a:t>  The MERN stack provides a scalable, responsive, and maintainable foundation</a:t>
            </a:r>
          </a:p>
          <a:p>
            <a:pPr>
              <a:spcBef>
                <a:spcPts val="1000"/>
              </a:spcBef>
              <a:defRPr sz="1600" b="0">
                <a:solidFill>
                  <a:srgbClr val="FFFFFF"/>
                </a:solidFill>
              </a:defRPr>
            </a:pPr>
            <a:r>
              <a:t>  Role-based access and immutable audit logging ensure security and compliance</a:t>
            </a:r>
          </a:p>
          <a:p>
            <a:pPr>
              <a:spcBef>
                <a:spcPts val="1000"/>
              </a:spcBef>
              <a:defRPr sz="1600" b="0">
                <a:solidFill>
                  <a:srgbClr val="FFFFFF"/>
                </a:solidFill>
              </a:defRPr>
            </a:pPr>
            <a:r>
              <a:t>  The system connects students, companies, universities, supervisors, and administrators in one platform</a:t>
            </a:r>
          </a:p>
          <a:p>
            <a:pPr>
              <a:spcBef>
                <a:spcPts val="1000"/>
              </a:spcBef>
              <a:defRPr sz="1600" b="0">
                <a:solidFill>
                  <a:srgbClr val="FFFFFF"/>
                </a:solidFill>
              </a:defRPr>
            </a:pPr>
            <a:r>
              <a:t>  121 integration tests validate correctness across all core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2120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DBFE"/>
                </a:solidFill>
              </a:defRPr>
            </a:pPr>
            <a:r>
              <a:t>Future Work (Phase 14)</a:t>
            </a:r>
          </a:p>
          <a:p>
            <a:pPr>
              <a:spcBef>
                <a:spcPts val="300"/>
              </a:spcBef>
              <a:defRPr sz="1300" b="0">
                <a:solidFill>
                  <a:srgbClr val="FFFFFF"/>
                </a:solidFill>
              </a:defRPr>
            </a:pPr>
            <a:r>
              <a:t>  AWS S3 file storage</a:t>
            </a:r>
          </a:p>
          <a:p>
            <a:pPr>
              <a:spcBef>
                <a:spcPts val="300"/>
              </a:spcBef>
              <a:defRPr sz="1300" b="0">
                <a:solidFill>
                  <a:srgbClr val="FFFFFF"/>
                </a:solidFill>
              </a:defRPr>
            </a:pPr>
            <a:r>
              <a:t>  Email (SendGrid) + SMS (Twilio)</a:t>
            </a:r>
          </a:p>
          <a:p>
            <a:pPr>
              <a:spcBef>
                <a:spcPts val="300"/>
              </a:spcBef>
              <a:defRPr sz="1300" b="0">
                <a:solidFill>
                  <a:srgbClr val="FFFFFF"/>
                </a:solidFill>
              </a:defRPr>
            </a:pPr>
            <a:r>
              <a:t>  OAuth 2.0 + 2FA</a:t>
            </a:r>
          </a:p>
          <a:p>
            <a:pPr>
              <a:spcBef>
                <a:spcPts val="300"/>
              </a:spcBef>
              <a:defRPr sz="1300" b="0">
                <a:solidFill>
                  <a:srgbClr val="FFFFFF"/>
                </a:solidFill>
              </a:defRPr>
            </a:pPr>
            <a:r>
              <a:t>  Redis caching</a:t>
            </a:r>
          </a:p>
          <a:p>
            <a:pPr>
              <a:spcBef>
                <a:spcPts val="300"/>
              </a:spcBef>
              <a:defRPr sz="1300" b="0">
                <a:solidFill>
                  <a:srgbClr val="FFFFFF"/>
                </a:solidFill>
              </a:defRPr>
            </a:pPr>
            <a:r>
              <a:t>  Docker + cloud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52120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Live Demo</a:t>
            </a:r>
          </a:p>
          <a:p>
            <a:pPr>
              <a:spcBef>
                <a:spcPts val="800"/>
              </a:spcBef>
              <a:defRPr sz="1400" b="0">
                <a:solidFill>
                  <a:srgbClr val="BFDBFE"/>
                </a:solidFill>
              </a:defRPr>
            </a:pPr>
            <a:r>
              <a:t>npm run dev  (localhost:5173 + :5000)</a:t>
            </a:r>
          </a:p>
          <a:p>
            <a:pPr>
              <a:spcBef>
                <a:spcPts val="1600"/>
              </a:spcBef>
              <a:defRPr sz="2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